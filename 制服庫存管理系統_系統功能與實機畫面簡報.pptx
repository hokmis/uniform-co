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78"/>
          </a:solidFill>
          <a:ln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8744A"/>
                </a:solidFill>
                <a:latin typeface="微軟正黑體"/>
              </a:defRPr>
            </a:pPr>
            <a:r>
              <a:t>ENTERPRISE UNIFORM MANAGEMENT SYSTEM</a:t>
            </a:r>
          </a:p>
          <a:p>
            <a:pPr>
              <a:spcAft>
                <a:spcPts val="800"/>
              </a:spcAft>
              <a:defRPr sz="2800" b="1">
                <a:solidFill>
                  <a:srgbClr val="184C78"/>
                </a:solidFill>
                <a:latin typeface="微軟正黑體"/>
              </a:defRPr>
            </a:pPr>
            <a:r>
              <a:t>企業制服庫存管理與換季請領系統</a:t>
            </a:r>
          </a:p>
          <a:p>
            <a:pPr>
              <a:spcAft>
                <a:spcPts val="2400"/>
              </a:spcAft>
              <a:defRPr sz="1800" b="1">
                <a:solidFill>
                  <a:srgbClr val="2980B9"/>
                </a:solidFill>
                <a:latin typeface="微軟正黑體"/>
              </a:defRPr>
            </a:pPr>
            <a:r>
              <a:t>系統架構核心精華與實機畫面圖文對照指南</a:t>
            </a:r>
          </a:p>
          <a:p>
            <a:pPr>
              <a:spcAft>
                <a:spcPts val="2000"/>
              </a:spcAft>
              <a:defRPr sz="1200">
                <a:solidFill>
                  <a:srgbClr val="64748B"/>
                </a:solidFill>
                <a:latin typeface="微軟正黑體"/>
              </a:defRPr>
            </a:pPr>
            <a:r>
              <a:t>雙倉庫存體系  |  有效預留防超發  |  二排機構極速填報  |  A4橫向二維樞紐匯出</a:t>
            </a:r>
          </a:p>
          <a:p>
            <a:pPr>
              <a:defRPr sz="1000">
                <a:solidFill>
                  <a:srgbClr val="A0AEC0"/>
                </a:solidFill>
                <a:latin typeface="微軟正黑體"/>
              </a:defRPr>
            </a:pPr>
            <a:r>
              <a:t>文件版本：v2.0 系統功能簡報　·　產出日期：2026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系統核心運作機制與防呆架構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8744A"/>
                </a:solidFill>
                <a:latin typeface="微軟正黑體"/>
              </a:defRPr>
            </a:pPr>
            <a:r>
              <a:t>01</a:t>
            </a:r>
          </a:p>
          <a:p>
            <a:pPr>
              <a:defRPr sz="1300" b="1">
                <a:solidFill>
                  <a:srgbClr val="184C78"/>
                </a:solidFill>
                <a:latin typeface="微軟正黑體"/>
              </a:defRPr>
            </a:pPr>
            <a:r>
              <a:t>雙倉庫存解耦</a:t>
            </a:r>
          </a:p>
          <a:p>
            <a:pPr>
              <a:spcAft>
                <a:spcPts val="1200"/>
              </a:spcAft>
              <a:defRPr sz="1000" b="1">
                <a:solidFill>
                  <a:srgbClr val="2980B9"/>
                </a:solidFill>
                <a:latin typeface="微軟正黑體"/>
              </a:defRPr>
            </a:pPr>
            <a:r>
              <a:t>人資倉＋總倉</a:t>
            </a:r>
          </a:p>
          <a:p>
            <a:pPr>
              <a:lnSpc>
                <a:spcPct val="125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人資倉專注日常員工請領扣發，總倉統籌長期儲備；存量不足時自動啟動調庫撥補，職責清晰分明。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8744A"/>
                </a:solidFill>
                <a:latin typeface="微軟正黑體"/>
              </a:defRPr>
            </a:pPr>
            <a:r>
              <a:t>02</a:t>
            </a:r>
          </a:p>
          <a:p>
            <a:pPr>
              <a:defRPr sz="1300" b="1">
                <a:solidFill>
                  <a:srgbClr val="184C78"/>
                </a:solidFill>
                <a:latin typeface="微軟正黑體"/>
              </a:defRPr>
            </a:pPr>
            <a:r>
              <a:t>有效預留防超發</a:t>
            </a:r>
          </a:p>
          <a:p>
            <a:pPr>
              <a:spcAft>
                <a:spcPts val="1200"/>
              </a:spcAft>
              <a:defRPr sz="1000" b="1">
                <a:solidFill>
                  <a:srgbClr val="2980B9"/>
                </a:solidFill>
                <a:latin typeface="微軟正黑體"/>
              </a:defRPr>
            </a:pPr>
            <a:r>
              <a:t>可用量演算引擎</a:t>
            </a:r>
          </a:p>
          <a:p>
            <a:pPr>
              <a:lnSpc>
                <a:spcPct val="125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兩倉可用量 = (人資現存+總倉現存) - 有效預留。只要需求單暫存即鎖定庫存，杜絕多單位爭搶缺貨。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8744A"/>
                </a:solidFill>
                <a:latin typeface="微軟正黑體"/>
              </a:defRPr>
            </a:pPr>
            <a:r>
              <a:t>03</a:t>
            </a:r>
          </a:p>
          <a:p>
            <a:pPr>
              <a:defRPr sz="1300" b="1">
                <a:solidFill>
                  <a:srgbClr val="184C78"/>
                </a:solidFill>
                <a:latin typeface="微軟正黑體"/>
              </a:defRPr>
            </a:pPr>
            <a:r>
              <a:t>嚴格更正審計</a:t>
            </a:r>
          </a:p>
          <a:p>
            <a:pPr>
              <a:spcAft>
                <a:spcPts val="1200"/>
              </a:spcAft>
              <a:defRPr sz="1000" b="1">
                <a:solidFill>
                  <a:srgbClr val="2980B9"/>
                </a:solidFill>
                <a:latin typeface="微軟正黑體"/>
              </a:defRPr>
            </a:pPr>
            <a:r>
              <a:t>全反向交易差額沖銷</a:t>
            </a:r>
          </a:p>
          <a:p>
            <a:pPr>
              <a:lnSpc>
                <a:spcPct val="125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歷史紀錄嚴禁竄改，所有發放退回、驗收盤點誤差皆透過原因碼與差額沖銷更正，完整追溯。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8744A"/>
                </a:solidFill>
                <a:latin typeface="微軟正黑體"/>
              </a:defRPr>
            </a:pPr>
            <a:r>
              <a:t>04</a:t>
            </a:r>
          </a:p>
          <a:p>
            <a:pPr>
              <a:defRPr sz="1300" b="1">
                <a:solidFill>
                  <a:srgbClr val="184C78"/>
                </a:solidFill>
                <a:latin typeface="微軟正黑體"/>
              </a:defRPr>
            </a:pPr>
            <a:r>
              <a:t>22機構標準白名單</a:t>
            </a:r>
          </a:p>
          <a:p>
            <a:pPr>
              <a:spcAft>
                <a:spcPts val="1200"/>
              </a:spcAft>
              <a:defRPr sz="1000" b="1">
                <a:solidFill>
                  <a:srgbClr val="2980B9"/>
                </a:solidFill>
                <a:latin typeface="微軟正黑體"/>
              </a:defRPr>
            </a:pPr>
            <a:r>
              <a:t>13大品項分類規範</a:t>
            </a:r>
          </a:p>
          <a:p>
            <a:pPr>
              <a:lnSpc>
                <a:spcPct val="125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統一鎖定福氣心平等 22 家指定機構與照服/護士等 13 大分類，無論填報或匯出報表完全零誤差。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WORKSPACE: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營運總覽工作區：全域指標與工作佇列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一站式營運 KPI 縱覽
</a:t>
            </a:r>
            <a:r>
              <a:rPr sz="1050">
                <a:solidFill>
                  <a:srgbClr val="212B36"/>
                </a:solidFill>
                <a:latin typeface="微軟正黑體"/>
              </a:rPr>
              <a:t>登入後首頁即時顯示全機構制服庫存警戒、進行中活動狀態與發貨單進度，資訊透明不延遲。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待辦事項與快捷入口
</a:t>
            </a:r>
            <a:r>
              <a:rPr sz="1050">
                <a:solidFill>
                  <a:srgbClr val="212B36"/>
                </a:solidFill>
                <a:latin typeface="微軟正黑體"/>
              </a:rPr>
              <a:t>自動彙整人資待送審單、倉庫待發貨單與採購入庫單，指引各角色立即展開日常作業。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七大工作區統一導覽
</a:t>
            </a:r>
            <a:r>
              <a:rPr sz="1050">
                <a:solidFill>
                  <a:srgbClr val="212B36"/>
                </a:solidFill>
                <a:latin typeface="微軟正黑體"/>
              </a:rPr>
              <a:t>透過標準頂部導覽列無縫切換總覽、帳號、人資、倉庫、採購、換季與報表，權限隔離明確。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060972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07629"/>
            <a:ext cx="5212080" cy="31913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系統營運總覽儀表板與工作區主導覽畫面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MASTER DATA: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商品與主檔基礎：單一真實資料來源 (SSOT)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標準化品號與規格維護
</a:t>
            </a:r>
            <a:r>
              <a:rPr sz="1050">
                <a:solidFill>
                  <a:srgbClr val="212B36"/>
                </a:solidFill>
                <a:latin typeface="微軟正黑體"/>
              </a:rPr>
              <a:t>嚴格定義每款制服品號、品名、性別、季節（夏/冬）與尺寸，作為所有請領與報表之共通基礎。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供應鏈參數綁定
</a:t>
            </a:r>
            <a:r>
              <a:rPr sz="1050">
                <a:solidFill>
                  <a:srgbClr val="212B36"/>
                </a:solidFill>
                <a:latin typeface="微軟正黑體"/>
              </a:rPr>
              <a:t>內建供應商代碼、最低起訂量（MOQ）與安全庫存警戒水位，支援換季採購自動化補整倍數。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大批次匯入防禦機制
</a:t>
            </a:r>
            <a:r>
              <a:rPr sz="1050">
                <a:solidFill>
                  <a:srgbClr val="212B36"/>
                </a:solidFill>
                <a:latin typeface="微軟正黑體"/>
              </a:rPr>
              <a:t>具備耐久匯入校驗（Durable Import），先比對差異後寫入，保護既有存量數據不被覆蓋毀損。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223623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22152"/>
            <a:ext cx="5212080" cy="29623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商品清單主檔維護與規格設定畫面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HR OPERATIONS: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人資需求工作台：7:3 雙欄與二排機構展開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7:3 黃金比例雙欄佈局
</a:t>
            </a:r>
            <a:r>
              <a:rPr sz="1050">
                <a:solidFill>
                  <a:srgbClr val="212B36"/>
                </a:solidFill>
                <a:latin typeface="微軟正黑體"/>
              </a:rPr>
              <a:t>左側 70% 專注目錄式需求填報，右側 30% 即時呈現送出前品號檢查，免除頻繁切換畫面的疲倦。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22 機構快捷展開按鈕
</a:t>
            </a:r>
            <a:r>
              <a:rPr sz="1050">
                <a:solidFill>
                  <a:srgbClr val="212B36"/>
                </a:solidFill>
                <a:latin typeface="微軟正黑體"/>
              </a:rPr>
              <a:t>第一排 17 個單位（福至含笑），第二排 5 個單位（法人至幼兒園），緊湊排列單點即開。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品號彙總增庫獨立區塊
</a:t>
            </a:r>
            <a:r>
              <a:rPr sz="1050">
                <a:solidFill>
                  <a:srgbClr val="212B36"/>
                </a:solidFill>
                <a:latin typeface="微軟正黑體"/>
              </a:rPr>
              <a:t>針對機構備用儲備需求，提供專屬增庫量填寫區，自動納入調庫核算，兼顧員工發放與公用備量。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352717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373" y="1508760"/>
            <a:ext cx="4870852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人資需求單填報全景（7:3 雙欄並排與 2 排單位按鈕）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HR OPERATIONS: CATALOG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目錄式填報：分頁切換與件數即時錄入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直覺化制服品項分類頁籤
</a:t>
            </a:r>
            <a:r>
              <a:rPr sz="1050">
                <a:solidFill>
                  <a:srgbClr val="212B36"/>
                </a:solidFill>
                <a:latin typeface="微軟正黑體"/>
              </a:rPr>
              <a:t>依職種大類（照服、護士、行政、廚師、工務、幼兒園）直覺切換，迅速定位目標制服。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多維度快速篩選工具列
</a:t>
            </a:r>
            <a:r>
              <a:rPr sz="1050">
                <a:solidFill>
                  <a:srgbClr val="212B36"/>
                </a:solidFill>
                <a:latin typeface="微軟正黑體"/>
              </a:rPr>
              <a:t>提供男/女、夏季/冬季及關鍵字即時過濾，各尺碼現有存量與可用量一目了然。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右側發放件數直接鍵入
</a:t>
            </a:r>
            <a:r>
              <a:rPr sz="1050">
                <a:solidFill>
                  <a:srgbClr val="212B36"/>
                </a:solidFill>
                <a:latin typeface="微軟正黑體"/>
              </a:rPr>
              <a:t>徹底移除舊版逐筆下拉新增之繁瑣流程，右側直接輸入件數，數字變更即時連動草稿明細。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350684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443564"/>
            <a:ext cx="5212080" cy="25195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點選報局單位展開之目錄式制服發放填寫介面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HR OPERATIONS: SUMMARY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送出前品號檢查：單位標籤與即時算力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報局單位清晰徽章標記
</a:t>
            </a:r>
            <a:r>
              <a:rPr sz="1050">
                <a:solidFill>
                  <a:srgbClr val="212B36"/>
                </a:solidFill>
                <a:latin typeface="微軟正黑體"/>
              </a:rPr>
              <a:t>品號前方醒目標註請領單位徽章（如 [護家]、[氣]；純增庫標示 [增庫]），文字放大清晰易讀。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品名規格水平並排呈現
</a:t>
            </a:r>
            <a:r>
              <a:rPr sz="1050">
                <a:solidFill>
                  <a:srgbClr val="212B36"/>
                </a:solidFill>
                <a:latin typeface="微軟正黑體"/>
              </a:rPr>
              <a:t>料號、品名與尺寸水平排整，視覺緊湊俐落，右側對應發放與增庫件數。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即時調庫預警與可用比對
</a:t>
            </a:r>
            <a:r>
              <a:rPr sz="1050">
                <a:solidFill>
                  <a:srgbClr val="212B36"/>
                </a:solidFill>
                <a:latin typeface="微軟正黑體"/>
              </a:rPr>
              <a:t>自動計算總倉調庫需求量與兩倉可用存量；底層置中垂直呈現發放總量、增庫總量與調庫總計。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365528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691" y="1508760"/>
            <a:ext cx="3370217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送出前品號檢查卡片（單位徽章、品名並排與總量核算）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HR OPERATIONS: HISTORY &amp;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需求單歷史與詳情：單據全生命週期追蹤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單據狀態全程可視化
</a:t>
            </a:r>
            <a:r>
              <a:rPr sz="1050">
                <a:solidFill>
                  <a:srgbClr val="212B36"/>
                </a:solidFill>
                <a:latin typeface="微軟正黑體"/>
              </a:rPr>
              <a:t>清楚標示草稿、已送出、已發貨、已結案等生命週期狀態，支援隨時查看詳細清冊。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粗體品號與緊湊指標卡
</a:t>
            </a:r>
            <a:r>
              <a:rPr sz="1050">
                <a:solidFill>
                  <a:srgbClr val="212B36"/>
                </a:solidFill>
                <a:latin typeface="微軟正黑體"/>
              </a:rPr>
              <a:t>詳情彈窗內品號與品名加粗並排，發放日期、有效預留與資料版本以精緻小卡並排縮小展示。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A4 發貨單預覽列印
</a:t>
            </a:r>
            <a:r>
              <a:rPr sz="1050">
                <a:solidFill>
                  <a:srgbClr val="212B36"/>
                </a:solidFill>
                <a:latin typeface="微軟正黑體"/>
              </a:rPr>
              <a:t>內建列印專用版面，一鍵輸出實體領用簽收單，供線下發放比對同仁簽名留存。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333610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30534"/>
            <a:ext cx="5212080" cy="31455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需求單歷史清單與單據明細詳情彈窗畫面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WAREHOUSE: SHIPMENT &amp;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倉庫發貨與調庫：實體進出與預留釋放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人資倉優先扣發與調庫撥補
</a:t>
            </a:r>
            <a:r>
              <a:rPr sz="1050">
                <a:solidFill>
                  <a:srgbClr val="212B36"/>
                </a:solidFill>
                <a:latin typeface="微軟正黑體"/>
              </a:rPr>
              <a:t>人資倉有庫存優先扣發；不足時系統自動生成總倉調庫單，實體撥入人資倉後完成扣發。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發貨即時釋放有效預留
</a:t>
            </a:r>
            <a:r>
              <a:rPr sz="1050">
                <a:solidFill>
                  <a:srgbClr val="212B36"/>
                </a:solidFill>
                <a:latin typeface="微軟正黑體"/>
              </a:rPr>
              <a:t>發貨完成當下精確扣減實體帳面庫存，同時自動解除對應預留額度，確保前後帳料相符。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定期盤點與 Fencing 鎖定
</a:t>
            </a:r>
            <a:r>
              <a:rPr sz="1050">
                <a:solidFill>
                  <a:srgbClr val="212B36"/>
                </a:solidFill>
                <a:latin typeface="微軟正黑體"/>
              </a:rPr>
              <a:t>支援週期盲盤比對，盤盈盤虧自動記錄；發現錯誤可透過專屬更正面板追溯調整。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775487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957" y="1508760"/>
            <a:ext cx="4975684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倉庫實體作業、庫存即時水位與調庫管理介面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REPORTING: PIVOT EXCEL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A4 橫向二維樞紐報表：客製化 Excel 直出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22 家機構橫向二維交叉
</a:t>
            </a:r>
            <a:r>
              <a:rPr sz="1050">
                <a:solidFill>
                  <a:srgbClr val="212B36"/>
                </a:solidFill>
                <a:latin typeface="微軟正黑體"/>
              </a:rPr>
              <a:t>直向依序陳列制服品號與規格，橫向完整列出 22 家指定機構之實領數量與各分店合計。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13 大標準分類依序分群
</a:t>
            </a:r>
            <a:r>
              <a:rPr sz="1050">
                <a:solidFill>
                  <a:srgbClr val="212B36"/>
                </a:solidFill>
                <a:latin typeface="微軟正黑體"/>
              </a:rPr>
              <a:t>照服夏/冬、護士夏/冬、行政夏/冬依序排列，符合總務與稽核之慣用查驗格式。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D8744A"/>
                </a:solidFill>
                <a:latin typeface="微軟正黑體"/>
              </a:rPr>
              <a:t>◆  </a:t>
            </a:r>
            <a:r>
              <a:rPr sz="1200" b="1">
                <a:solidFill>
                  <a:srgbClr val="184C78"/>
                </a:solidFill>
                <a:latin typeface="微軟正黑體"/>
              </a:rPr>
              <a:t>預設 64% 視野縮放與最適欄寬
</a:t>
            </a:r>
            <a:r>
              <a:rPr sz="1050">
                <a:solidFill>
                  <a:srgbClr val="212B36"/>
                </a:solidFill>
                <a:latin typeface="微軟正黑體"/>
              </a:rPr>
              <a:t>下載後開啟 Excel 即為 A4 橫向 64% 最佳視角，無須手動拉動欄寬或調整分頁，直接呈報列印！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26597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348"/>
            <a:ext cx="5212080" cy="31099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微軟正黑體"/>
              </a:defRPr>
            </a:pPr>
            <a:r>
              <a:t>▲ 系統匯出之 A4 橫向 22 機構二維交叉樞紐報表實際成果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744A"/>
                </a:solidFill>
                <a:latin typeface="微軟正黑體"/>
              </a:defRPr>
            </a:pPr>
            <a:r>
              <a:t>BUSINESS VALUE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4C78"/>
                </a:solidFill>
                <a:latin typeface="微軟正黑體"/>
              </a:defRPr>
            </a:pPr>
            <a:r>
              <a:t>系統綜合成效與企業核心價值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  <a:latin typeface="微軟正黑體"/>
              </a:defRPr>
            </a:pPr>
            <a:r>
              <a:t>效率倍增</a:t>
            </a:r>
          </a:p>
          <a:p>
            <a:pPr>
              <a:spcAft>
                <a:spcPts val="1400"/>
              </a:spcAft>
              <a:defRPr sz="1100" b="1">
                <a:solidFill>
                  <a:srgbClr val="D8744A"/>
                </a:solidFill>
                <a:latin typeface="微軟正黑體"/>
              </a:defRPr>
            </a:pPr>
            <a:r>
              <a:t>作業時間節省 70%</a:t>
            </a:r>
          </a:p>
          <a:p>
            <a:pPr>
              <a:lnSpc>
                <a:spcPct val="130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從傳統逐筆下拉與紙本往返，轉變為目錄式點選、2 排機構直通與一鍵產出二維報表，填報與對帳速度大幅提升。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  <a:latin typeface="微軟正黑體"/>
              </a:defRPr>
            </a:pPr>
            <a:r>
              <a:t>精準防呆</a:t>
            </a:r>
          </a:p>
          <a:p>
            <a:pPr>
              <a:spcAft>
                <a:spcPts val="1400"/>
              </a:spcAft>
              <a:defRPr sz="1100" b="1">
                <a:solidFill>
                  <a:srgbClr val="D8744A"/>
                </a:solidFill>
                <a:latin typeface="微軟正黑體"/>
              </a:defRPr>
            </a:pPr>
            <a:r>
              <a:t>杜絕缺貨與超發現象</a:t>
            </a:r>
          </a:p>
          <a:p>
            <a:pPr>
              <a:lnSpc>
                <a:spcPct val="130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雙倉可用量演算與有效預留鎖定，各機構請領時即時阻擋超額申請；MOQ 起訂量自動補整，採購決策不再憑感覺。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  <a:latin typeface="微軟正黑體"/>
              </a:defRPr>
            </a:pPr>
            <a:r>
              <a:t>內控嚴密</a:t>
            </a:r>
          </a:p>
          <a:p>
            <a:pPr>
              <a:spcAft>
                <a:spcPts val="1400"/>
              </a:spcAft>
              <a:defRPr sz="1100" b="1">
                <a:solidFill>
                  <a:srgbClr val="D8744A"/>
                </a:solidFill>
                <a:latin typeface="微軟正黑體"/>
              </a:defRPr>
            </a:pPr>
            <a:r>
              <a:t>完整審計與沖銷軌跡</a:t>
            </a:r>
          </a:p>
          <a:p>
            <a:pPr>
              <a:lnSpc>
                <a:spcPct val="130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單向不可逆覆蓋，所有退回更正皆走差額反向交易並強制記錄原因碼，完全符合內控查核標準。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  <a:latin typeface="微軟正黑體"/>
              </a:defRPr>
            </a:pPr>
            <a:r>
              <a:t>無縫整合</a:t>
            </a:r>
          </a:p>
          <a:p>
            <a:pPr>
              <a:spcAft>
                <a:spcPts val="1400"/>
              </a:spcAft>
              <a:defRPr sz="1100" b="1">
                <a:solidFill>
                  <a:srgbClr val="D8744A"/>
                </a:solidFill>
                <a:latin typeface="微軟正黑體"/>
              </a:defRPr>
            </a:pPr>
            <a:r>
              <a:t>對接主管機關與 ERP</a:t>
            </a:r>
          </a:p>
          <a:p>
            <a:pPr>
              <a:lnSpc>
                <a:spcPct val="130000"/>
              </a:lnSpc>
              <a:defRPr sz="1050">
                <a:solidFill>
                  <a:srgbClr val="212B36"/>
                </a:solidFill>
                <a:latin typeface="微軟正黑體"/>
              </a:defRPr>
            </a:pPr>
            <a:r>
              <a:t>二維樞紐報表完全對齊現行業務格式；具備標準 API/批次拋轉能力，輕鬆與企業外部財會薪資系統整合。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